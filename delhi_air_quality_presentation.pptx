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F2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F24"/>
                </a:solidFill>
                <a:latin typeface="Arial"/>
              </a:rPr>
              <a:t>Average query time, Q1–Q4 (ms, lower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time (ms), Q1-Q4</c:v>
                </c:pt>
              </c:strCache>
            </c:strRef>
          </c:tx>
          <c:spPr>
            <a:solidFill>
              <a:srgbClr val="E895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F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SQLite</c:v>
                  </c:pt>
                  <c:pt idx="1">
                    <c:v>DuckDB</c:v>
                  </c:pt>
                  <c:pt idx="2">
                    <c:v>PostgreSQL 18</c:v>
                  </c:pt>
                  <c:pt idx="3">
                    <c:v>SQL Server 2022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150</c:v>
                </c:pt>
                <c:pt idx="2">
                  <c:v>270</c:v>
                </c:pt>
                <c:pt idx="3">
                  <c:v>960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F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F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F2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PM2.5</c:v>
                </c:pt>
              </c:strCache>
            </c:strRef>
          </c:tx>
          <c:spPr>
            <a:solidFill>
              <a:srgbClr val="E8954A"/>
            </a:solidFill>
            <a:ln w="31750" cap="flat">
              <a:solidFill>
                <a:srgbClr val="E895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54A"/>
              </a:solidFill>
              <a:ln w="9525" cap="flat">
                <a:solidFill>
                  <a:srgbClr val="E895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Mar</c:v>
                  </c:pt>
                  <c:pt idx="2">
                    <c:v>May</c:v>
                  </c:pt>
                  <c:pt idx="3">
                    <c:v>Jul</c:v>
                  </c:pt>
                  <c:pt idx="4">
                    <c:v>Sep</c:v>
                  </c:pt>
                  <c:pt idx="5">
                    <c:v>Nov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205</c:v>
                </c:pt>
                <c:pt idx="1">
                  <c:v>77</c:v>
                </c:pt>
                <c:pt idx="2">
                  <c:v>91</c:v>
                </c:pt>
                <c:pt idx="3">
                  <c:v>40</c:v>
                </c:pt>
                <c:pt idx="4">
                  <c:v>43</c:v>
                </c:pt>
                <c:pt idx="5">
                  <c:v>246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7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3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7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91440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23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22.5M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DELHI AIR QUALITY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 Engineering Pipeline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 ingestion  →  SQLite warehouse  →  SQL analytics  →  Flask dashboard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Nelson</a:t>
            </a:r>
            <a:pPr indent="0" marL="0">
              <a:buNone/>
            </a:pPr>
            <a:r>
              <a:rPr lang="en-US" sz="14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Rutvi</a:t>
            </a:r>
            <a:pPr indent="0" marL="0">
              <a:buNone/>
            </a:pPr>
            <a:r>
              <a:rPr lang="en-US" sz="14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AlaguVishaal Balaji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IIT Madras International Campus Zanzibar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was the data before everything?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rows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20440" y="1691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9202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332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370332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0" y="1691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9202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8368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658368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stations, 13 pollutants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281160" y="1691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19202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6404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MB</a:t>
            </a:r>
            <a:endParaRPr lang="en-US" sz="3000" dirty="0"/>
          </a:p>
        </p:txBody>
      </p:sp>
      <p:sp>
        <p:nvSpPr>
          <p:cNvPr id="19" name="Text 13"/>
          <p:cNvSpPr/>
          <p:nvPr/>
        </p:nvSpPr>
        <p:spPr>
          <a:xfrm>
            <a:off x="946404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parquet file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4008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found in the raw data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40080" y="4325112"/>
            <a:ext cx="91440" cy="91440"/>
          </a:xfrm>
          <a:prstGeom prst="ellipse">
            <a:avLst/>
          </a:prstGeom>
          <a:solidFill>
            <a:srgbClr val="E85A5A"/>
          </a:solidFill>
          <a:ln/>
        </p:spPr>
      </p:sp>
      <p:sp>
        <p:nvSpPr>
          <p:cNvPr id="22" name="Text 16"/>
          <p:cNvSpPr/>
          <p:nvPr/>
        </p:nvSpPr>
        <p:spPr>
          <a:xfrm>
            <a:off x="868680" y="417880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Readings every 15 minutes — far more granular than needed for monthly/seasonal analysis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40080" y="4709160"/>
            <a:ext cx="91440" cy="91440"/>
          </a:xfrm>
          <a:prstGeom prst="ellipse">
            <a:avLst/>
          </a:prstGeom>
          <a:solidFill>
            <a:srgbClr val="E85A5A"/>
          </a:solidFill>
          <a:ln/>
        </p:spPr>
      </p:sp>
      <p:sp>
        <p:nvSpPr>
          <p:cNvPr id="24" name="Text 18"/>
          <p:cNvSpPr/>
          <p:nvPr/>
        </p:nvSpPr>
        <p:spPr>
          <a:xfrm>
            <a:off x="868680" y="456285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values present — sensor error codes like “-999” stored as real readings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40080" y="5093208"/>
            <a:ext cx="91440" cy="91440"/>
          </a:xfrm>
          <a:prstGeom prst="ellipse">
            <a:avLst/>
          </a:prstGeom>
          <a:solidFill>
            <a:srgbClr val="E85A5A"/>
          </a:solidFill>
          <a:ln/>
        </p:spPr>
      </p:sp>
      <p:sp>
        <p:nvSpPr>
          <p:cNvPr id="26" name="Text 20"/>
          <p:cNvSpPr/>
          <p:nvPr/>
        </p:nvSpPr>
        <p:spPr>
          <a:xfrm>
            <a:off x="868680" y="49469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outliers above 10,000 µg/m³ — physically impossible, instrument malfunction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40080" y="5477256"/>
            <a:ext cx="91440" cy="91440"/>
          </a:xfrm>
          <a:prstGeom prst="ellipse">
            <a:avLst/>
          </a:prstGeom>
          <a:solidFill>
            <a:srgbClr val="E85A5A"/>
          </a:solidFill>
          <a:ln/>
        </p:spPr>
      </p:sp>
      <p:sp>
        <p:nvSpPr>
          <p:cNvPr id="28" name="Text 22"/>
          <p:cNvSpPr/>
          <p:nvPr/>
        </p:nvSpPr>
        <p:spPr>
          <a:xfrm>
            <a:off x="868680" y="53309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text — mixed casing (“PM25” vs “pm25”), stray whitespace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640080" y="5861304"/>
            <a:ext cx="91440" cy="91440"/>
          </a:xfrm>
          <a:prstGeom prst="ellipse">
            <a:avLst/>
          </a:prstGeom>
          <a:solidFill>
            <a:srgbClr val="E85A5A"/>
          </a:solidFill>
          <a:ln/>
        </p:spPr>
      </p:sp>
      <p:sp>
        <p:nvSpPr>
          <p:cNvPr id="30" name="Text 24"/>
          <p:cNvSpPr/>
          <p:nvPr/>
        </p:nvSpPr>
        <p:spPr>
          <a:xfrm>
            <a:off x="868680" y="57150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flat 240MB file — slow to query, no structure for repeated analysis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 when we measured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scan results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5486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7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Null key columns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~0.1% of rows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values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 error codes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Values &gt; 10,000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Instrument malfunction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 rows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Present, small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Whitespace / casing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Inconsistent across pollutant names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92240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count funnel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92240" y="2103120"/>
            <a:ext cx="4572000" cy="594360"/>
          </a:xfrm>
          <a:prstGeom prst="roundRect">
            <a:avLst>
              <a:gd name="adj" fmla="val 9231"/>
            </a:avLst>
          </a:prstGeom>
          <a:solidFill>
            <a:srgbClr val="3D5A73"/>
          </a:solidFill>
          <a:ln/>
        </p:spPr>
      </p:sp>
      <p:sp>
        <p:nvSpPr>
          <p:cNvPr id="8" name="Text 5"/>
          <p:cNvSpPr/>
          <p:nvPr/>
        </p:nvSpPr>
        <p:spPr>
          <a:xfrm>
            <a:off x="6675120" y="21579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rows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75120" y="2377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22,476,854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92240" y="2926080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6B8CA3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0" y="29809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cleaning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7512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~22,400,000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92240" y="374904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E8954A"/>
          </a:solidFill>
          <a:ln/>
        </p:spPr>
      </p:sp>
      <p:sp>
        <p:nvSpPr>
          <p:cNvPr id="14" name="Text 11"/>
          <p:cNvSpPr/>
          <p:nvPr/>
        </p:nvSpPr>
        <p:spPr>
          <a:xfrm>
            <a:off x="6675120" y="38039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hourly aggregation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7512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5,810,118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92240" y="4617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readings (15-min) per hour collapse into 1 hourly average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54406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A1F24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66928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08760" y="565099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raw sensor data is never analysis-ready. We had to clean, validate, and reshape before any query could be trusted.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1 OF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with PySpark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92808"/>
            <a:ext cx="411480" cy="411480"/>
          </a:xfrm>
          <a:prstGeom prst="ellipse">
            <a:avLst/>
          </a:prstGeom>
          <a:solidFill>
            <a:srgbClr val="E8954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92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379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nulls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1671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rows missing station ID, pollutant, timestamp, or value — zero analytical value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2578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3368" y="1892808"/>
            <a:ext cx="411480" cy="411480"/>
          </a:xfrm>
          <a:prstGeom prst="ellipse">
            <a:avLst/>
          </a:prstGeom>
          <a:solidFill>
            <a:srgbClr val="E8954A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892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18379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negatives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0" y="21671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Pollution concentration cannot be negative — these are sensor error codes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52578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447288"/>
            <a:ext cx="411480" cy="411480"/>
          </a:xfrm>
          <a:prstGeom prst="ellipse">
            <a:avLst/>
          </a:prstGeom>
          <a:solidFill>
            <a:srgbClr val="E8954A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447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39242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outliers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72160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values above 10,000 µg/m³ — world record PM2.5 is ~2,000, so this is conservative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246120"/>
            <a:ext cx="52578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3368" y="3447288"/>
            <a:ext cx="411480" cy="411480"/>
          </a:xfrm>
          <a:prstGeom prst="ellipse">
            <a:avLst/>
          </a:prstGeom>
          <a:solidFill>
            <a:srgbClr val="E8954A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447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339242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duplicates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49440" y="372160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dropDuplicates() — identical rows inflate every average downstream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800600"/>
            <a:ext cx="52578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5001768"/>
            <a:ext cx="411480" cy="411480"/>
          </a:xfrm>
          <a:prstGeom prst="ellipse">
            <a:avLst/>
          </a:prstGeom>
          <a:solidFill>
            <a:srgbClr val="E8954A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001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94690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dates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527608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month 1-12, hour 0-23 — reject impossible calendar values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800600"/>
            <a:ext cx="52578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73368" y="5001768"/>
            <a:ext cx="411480" cy="411480"/>
          </a:xfrm>
          <a:prstGeom prst="ellipse">
            <a:avLst/>
          </a:prstGeom>
          <a:solidFill>
            <a:srgbClr val="E8954A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5001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49440" y="494690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 text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49440" y="527608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 whitespace, lowercase pollutant names — ‘ PM25’ and ‘pm25’ must match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2 OF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+ Normalised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Aggregation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560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 groupBy(station, pollutant, hour) + AVG/MIN/MAX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30632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6B8CA3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:00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508760" y="30632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6B8CA3"/>
          </a:solidFill>
          <a:ln/>
        </p:spPr>
      </p:sp>
      <p:sp>
        <p:nvSpPr>
          <p:cNvPr id="11" name="Text 8"/>
          <p:cNvSpPr/>
          <p:nvPr/>
        </p:nvSpPr>
        <p:spPr>
          <a:xfrm>
            <a:off x="150876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:15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103120" y="30632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6B8CA3"/>
          </a:solidFill>
          <a:ln/>
        </p:spPr>
      </p:sp>
      <p:sp>
        <p:nvSpPr>
          <p:cNvPr id="13" name="Text 10"/>
          <p:cNvSpPr/>
          <p:nvPr/>
        </p:nvSpPr>
        <p:spPr>
          <a:xfrm>
            <a:off x="210312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:30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697480" y="30632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6B8CA3"/>
          </a:solidFill>
          <a:ln/>
        </p:spPr>
      </p:sp>
      <p:sp>
        <p:nvSpPr>
          <p:cNvPr id="15" name="Text 12"/>
          <p:cNvSpPr/>
          <p:nvPr/>
        </p:nvSpPr>
        <p:spPr>
          <a:xfrm>
            <a:off x="26974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:45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83280" y="31089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3931920" y="3063240"/>
            <a:ext cx="731520" cy="502920"/>
          </a:xfrm>
          <a:prstGeom prst="roundRect">
            <a:avLst>
              <a:gd name="adj" fmla="val 9091"/>
            </a:avLst>
          </a:prstGeom>
          <a:solidFill>
            <a:srgbClr val="E8954A"/>
          </a:solidFill>
          <a:ln/>
        </p:spPr>
      </p:sp>
      <p:sp>
        <p:nvSpPr>
          <p:cNvPr id="18" name="Text 15"/>
          <p:cNvSpPr/>
          <p:nvPr/>
        </p:nvSpPr>
        <p:spPr>
          <a:xfrm>
            <a:off x="3931920" y="30632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14400" y="3794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22.5M rows  →  5.8M rows (4x reduction)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4400" y="42976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hourly: 15-minute granularity adds no value for monthly/seasonal questions, but costs 4x the storage and query time.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4400" y="49834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columns created per group: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4400" y="528523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avg_value, min_value, max_value, reading_count, avg_temp_c, avg_humidity, avg_wind_speed, avg_rainfall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80760" y="16916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A1F24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20240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94944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 Schema — 3 Tables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6400800" y="2606040"/>
            <a:ext cx="2286000" cy="1188720"/>
          </a:xfrm>
          <a:prstGeom prst="roundRect">
            <a:avLst>
              <a:gd name="adj" fmla="val 3846"/>
            </a:avLst>
          </a:prstGeom>
          <a:solidFill>
            <a:srgbClr val="3D5A73"/>
          </a:solidFill>
          <a:ln/>
        </p:spPr>
      </p:sp>
      <p:sp>
        <p:nvSpPr>
          <p:cNvPr id="27" name="Text 23"/>
          <p:cNvSpPr/>
          <p:nvPr/>
        </p:nvSpPr>
        <p:spPr>
          <a:xfrm>
            <a:off x="6537960" y="2679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537960" y="2971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station_name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9052560" y="2606040"/>
            <a:ext cx="2286000" cy="1188720"/>
          </a:xfrm>
          <a:prstGeom prst="roundRect">
            <a:avLst>
              <a:gd name="adj" fmla="val 3846"/>
            </a:avLst>
          </a:prstGeom>
          <a:solidFill>
            <a:srgbClr val="3D5A73"/>
          </a:solidFill>
          <a:ln/>
        </p:spPr>
      </p:sp>
      <p:sp>
        <p:nvSpPr>
          <p:cNvPr id="30" name="Text 26"/>
          <p:cNvSpPr/>
          <p:nvPr/>
        </p:nvSpPr>
        <p:spPr>
          <a:xfrm>
            <a:off x="9189720" y="2679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pollutants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9189720" y="2971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pollutant_id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pollutant_name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7223760" y="4160520"/>
            <a:ext cx="3291840" cy="1783080"/>
          </a:xfrm>
          <a:prstGeom prst="roundRect">
            <a:avLst>
              <a:gd name="adj" fmla="val 2564"/>
            </a:avLst>
          </a:prstGeom>
          <a:solidFill>
            <a:srgbClr val="E8954A"/>
          </a:solidFill>
          <a:ln/>
        </p:spPr>
      </p:sp>
      <p:sp>
        <p:nvSpPr>
          <p:cNvPr id="33" name="Text 29"/>
          <p:cNvSpPr/>
          <p:nvPr/>
        </p:nvSpPr>
        <p:spPr>
          <a:xfrm>
            <a:off x="7360920" y="42336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measurements (fact table)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7360920" y="452628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pollutant_id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year, month, day, hour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avg/min/max_value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avg_temp_c, avg_humidity...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7498080" y="3794760"/>
            <a:ext cx="640080" cy="411480"/>
          </a:xfrm>
          <a:prstGeom prst="line">
            <a:avLst/>
          </a:prstGeom>
          <a:noFill/>
          <a:ln w="19050">
            <a:solidFill>
              <a:srgbClr val="F5F3EF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9875520" y="3794760"/>
            <a:ext cx="-822960" cy="411480"/>
          </a:xfrm>
          <a:prstGeom prst="line">
            <a:avLst/>
          </a:prstGeom>
          <a:noFill/>
          <a:ln w="19050">
            <a:solidFill>
              <a:srgbClr val="F5F3E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3 OF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Benchmark — Real Measurements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measured 4 databases on the same 5.8M rows with identical SQL queries — not estimates.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20240"/>
          <a:ext cx="57607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720840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720840" y="2386584"/>
            <a:ext cx="82296" cy="82296"/>
          </a:xfrm>
          <a:prstGeom prst="ellipse">
            <a:avLst/>
          </a:prstGeom>
          <a:solidFill>
            <a:srgbClr val="E8954A"/>
          </a:solidFill>
          <a:ln/>
        </p:spPr>
      </p:sp>
      <p:sp>
        <p:nvSpPr>
          <p:cNvPr id="8" name="Text 5"/>
          <p:cNvSpPr/>
          <p:nvPr/>
        </p:nvSpPr>
        <p:spPr>
          <a:xfrm>
            <a:off x="6931152" y="22585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&amp; DuckDB fastest for our analytical workload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20840" y="2953512"/>
            <a:ext cx="82296" cy="82296"/>
          </a:xfrm>
          <a:prstGeom prst="ellipse">
            <a:avLst/>
          </a:prstGeom>
          <a:solidFill>
            <a:srgbClr val="E8954A"/>
          </a:solidFill>
          <a:ln/>
        </p:spPr>
      </p:sp>
      <p:sp>
        <p:nvSpPr>
          <p:cNvPr id="10" name="Text 7"/>
          <p:cNvSpPr/>
          <p:nvPr/>
        </p:nvSpPr>
        <p:spPr>
          <a:xfrm>
            <a:off x="6931152" y="282549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PostgreSQL: 19.5 sec on COUNT DISTINCT — full scan, no index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20840" y="3520440"/>
            <a:ext cx="82296" cy="82296"/>
          </a:xfrm>
          <a:prstGeom prst="ellipse">
            <a:avLst/>
          </a:prstGeom>
          <a:solidFill>
            <a:srgbClr val="E8954A"/>
          </a:solidFill>
          <a:ln/>
        </p:spPr>
      </p:sp>
      <p:sp>
        <p:nvSpPr>
          <p:cNvPr id="12" name="Text 9"/>
          <p:cNvSpPr/>
          <p:nvPr/>
        </p:nvSpPr>
        <p:spPr>
          <a:xfrm>
            <a:off x="6931152" y="339242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Server: only 3.4 sec on same query — better hash aggregate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20840" y="4087368"/>
            <a:ext cx="82296" cy="82296"/>
          </a:xfrm>
          <a:prstGeom prst="ellipse">
            <a:avLst/>
          </a:prstGeom>
          <a:solidFill>
            <a:srgbClr val="E8954A"/>
          </a:solidFill>
          <a:ln/>
        </p:spPr>
      </p:sp>
      <p:sp>
        <p:nvSpPr>
          <p:cNvPr id="14" name="Text 11"/>
          <p:cNvSpPr/>
          <p:nvPr/>
        </p:nvSpPr>
        <p:spPr>
          <a:xfrm>
            <a:off x="6931152" y="39593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database wins everything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20840" y="4709160"/>
            <a:ext cx="4846320" cy="960120"/>
          </a:xfrm>
          <a:prstGeom prst="roundRect">
            <a:avLst>
              <a:gd name="adj" fmla="val 6667"/>
            </a:avLst>
          </a:prstGeom>
          <a:solidFill>
            <a:srgbClr val="1A1F24"/>
          </a:solidFill>
          <a:ln/>
        </p:spPr>
      </p:sp>
      <p:sp>
        <p:nvSpPr>
          <p:cNvPr id="16" name="Text 13"/>
          <p:cNvSpPr/>
          <p:nvPr/>
        </p:nvSpPr>
        <p:spPr>
          <a:xfrm>
            <a:off x="6903720" y="48006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chosen: zero setup, zero idle RAM, one portable file — matches our single-user, read-heavy, 700MB workload exactly.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0080" y="51206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Plus: a linear-regression PM2.5 forecast with seasonal correction, served via a JSON key-value store for instant lookups.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E252C"/>
          </a:solidFill>
          <a:ln/>
        </p:spPr>
      </p:sp>
      <p:sp>
        <p:nvSpPr>
          <p:cNvPr id="5" name="Shape 3"/>
          <p:cNvSpPr/>
          <p:nvPr/>
        </p:nvSpPr>
        <p:spPr>
          <a:xfrm>
            <a:off x="1623060" y="2057400"/>
            <a:ext cx="640080" cy="64008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220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34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Parquet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22.5M rows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Hive partitions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64408" y="260604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566160" y="18288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E252C"/>
          </a:solidFill>
          <a:ln/>
        </p:spPr>
      </p:sp>
      <p:sp>
        <p:nvSpPr>
          <p:cNvPr id="11" name="Shape 8"/>
          <p:cNvSpPr/>
          <p:nvPr/>
        </p:nvSpPr>
        <p:spPr>
          <a:xfrm>
            <a:off x="4549140" y="2057400"/>
            <a:ext cx="640080" cy="64008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1945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2834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 ETL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703320" y="32461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+ aggregate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hourly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190488" y="260604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6492240" y="18288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E252C"/>
          </a:solidFill>
          <a:ln/>
        </p:spPr>
      </p:sp>
      <p:sp>
        <p:nvSpPr>
          <p:cNvPr id="17" name="Shape 13"/>
          <p:cNvSpPr/>
          <p:nvPr/>
        </p:nvSpPr>
        <p:spPr>
          <a:xfrm>
            <a:off x="7475220" y="2057400"/>
            <a:ext cx="640080" cy="640080"/>
          </a:xfrm>
          <a:prstGeom prst="ellipse">
            <a:avLst/>
          </a:prstGeom>
          <a:solidFill>
            <a:srgbClr val="E895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380" y="21945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29400" y="2834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Warehouse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629400" y="32461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 schema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5.8M rows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9116568" y="260604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9418320" y="18288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E252C"/>
          </a:solidFill>
          <a:ln/>
        </p:spPr>
      </p:sp>
      <p:sp>
        <p:nvSpPr>
          <p:cNvPr id="23" name="Shape 18"/>
          <p:cNvSpPr/>
          <p:nvPr/>
        </p:nvSpPr>
        <p:spPr>
          <a:xfrm>
            <a:off x="10401300" y="2057400"/>
            <a:ext cx="640080" cy="640080"/>
          </a:xfrm>
          <a:prstGeom prst="ellipse">
            <a:avLst/>
          </a:prstGeom>
          <a:solidFill>
            <a:srgbClr val="E8954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8460" y="21945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55480" y="2834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Layer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555480" y="32461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+ Flask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key-value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0080" y="429768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1E252C"/>
          </a:solidFill>
          <a:ln/>
        </p:spPr>
      </p:sp>
      <p:sp>
        <p:nvSpPr>
          <p:cNvPr id="28" name="Text 22"/>
          <p:cNvSpPr/>
          <p:nvPr/>
        </p:nvSpPr>
        <p:spPr>
          <a:xfrm>
            <a:off x="91440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8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1440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Raw, partitioned parquet (year=YYYY/month=MM). Big, cheap, full-resolution. Preserved untouched for re-processing.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217920" y="429768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1E252C"/>
          </a:solidFill>
          <a:ln/>
        </p:spPr>
      </p:sp>
      <p:sp>
        <p:nvSpPr>
          <p:cNvPr id="31" name="Text 25"/>
          <p:cNvSpPr/>
          <p:nvPr/>
        </p:nvSpPr>
        <p:spPr>
          <a:xfrm>
            <a:off x="649224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49224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Cleaned, aggregated, normalised SQLite. Optimised for fast analytical queries and serving.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Prototype — Flask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4572000"/>
          </a:xfrm>
          <a:prstGeom prst="roundRect">
            <a:avLst>
              <a:gd name="adj" fmla="val 1200"/>
            </a:avLst>
          </a:prstGeom>
          <a:solidFill>
            <a:srgbClr val="14181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solidFill>
            <a:srgbClr val="2A333D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819656"/>
            <a:ext cx="109728" cy="109728"/>
          </a:xfrm>
          <a:prstGeom prst="ellipse">
            <a:avLst/>
          </a:prstGeom>
          <a:solidFill>
            <a:srgbClr val="E85A5A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1819656"/>
            <a:ext cx="109728" cy="109728"/>
          </a:xfrm>
          <a:prstGeom prst="ellipse">
            <a:avLst/>
          </a:prstGeom>
          <a:solidFill>
            <a:srgbClr val="E8954A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1819656"/>
            <a:ext cx="109728" cy="109728"/>
          </a:xfrm>
          <a:prstGeom prst="ellipse">
            <a:avLst/>
          </a:prstGeom>
          <a:solidFill>
            <a:srgbClr val="5FB87A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1709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localhost:5000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Delhi Air Quality Dashboard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2697480"/>
            <a:ext cx="1645920" cy="868680"/>
          </a:xfrm>
          <a:prstGeom prst="roundRect">
            <a:avLst>
              <a:gd name="adj" fmla="val 5263"/>
            </a:avLst>
          </a:prstGeom>
          <a:solidFill>
            <a:srgbClr val="1E252C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2743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3444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0" y="2697480"/>
            <a:ext cx="1645920" cy="868680"/>
          </a:xfrm>
          <a:prstGeom prst="roundRect">
            <a:avLst>
              <a:gd name="adj" fmla="val 5263"/>
            </a:avLst>
          </a:prstGeom>
          <a:solidFill>
            <a:srgbClr val="1E252C"/>
          </a:solidFill>
          <a:ln/>
        </p:spPr>
      </p:sp>
      <p:sp>
        <p:nvSpPr>
          <p:cNvPr id="15" name="Text 13"/>
          <p:cNvSpPr/>
          <p:nvPr/>
        </p:nvSpPr>
        <p:spPr>
          <a:xfrm>
            <a:off x="3063240" y="2743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06324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Pollutants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697480"/>
            <a:ext cx="1645920" cy="868680"/>
          </a:xfrm>
          <a:prstGeom prst="roundRect">
            <a:avLst>
              <a:gd name="adj" fmla="val 5263"/>
            </a:avLst>
          </a:prstGeom>
          <a:solidFill>
            <a:srgbClr val="1E252C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743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5.8M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89204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97280" y="3749040"/>
            <a:ext cx="5303520" cy="2286000"/>
          </a:xfrm>
          <a:prstGeom prst="roundRect">
            <a:avLst>
              <a:gd name="adj" fmla="val 2000"/>
            </a:avLst>
          </a:prstGeom>
          <a:solidFill>
            <a:srgbClr val="1E252C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PM2.5 Trend</a:t>
            </a:r>
            <a:endParaRPr lang="en-US" sz="11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1188720" y="4160520"/>
          <a:ext cx="51206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6583680" y="3749040"/>
            <a:ext cx="4480560" cy="2286000"/>
          </a:xfrm>
          <a:prstGeom prst="roundRect">
            <a:avLst>
              <a:gd name="adj" fmla="val 2000"/>
            </a:avLst>
          </a:prstGeom>
          <a:solidFill>
            <a:srgbClr val="1E252C"/>
          </a:solidFill>
          <a:ln/>
        </p:spPr>
      </p:sp>
      <p:sp>
        <p:nvSpPr>
          <p:cNvPr id="24" name="Text 21"/>
          <p:cNvSpPr/>
          <p:nvPr/>
        </p:nvSpPr>
        <p:spPr>
          <a:xfrm>
            <a:off x="676656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Month Forecast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766560" y="4297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187.4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6766560" y="5074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µg/m³  ± 32.1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766560" y="54406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3D2F24"/>
          </a:solidFill>
          <a:ln/>
        </p:spPr>
      </p:sp>
      <p:sp>
        <p:nvSpPr>
          <p:cNvPr id="28" name="Text 25"/>
          <p:cNvSpPr/>
          <p:nvPr/>
        </p:nvSpPr>
        <p:spPr>
          <a:xfrm>
            <a:off x="6766560" y="5440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UNHEALTHY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Flask + Chart.js, served live from the SQLite warehouse and JSON key-value store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go beyond a standard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1E252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E895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848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4767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forward, not just back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pipelines only query history. We forecast next month's PM2.5 using linear regression + seasonal correction — in pure Python, no ML libraries.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1E252C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965960"/>
            <a:ext cx="502920" cy="502920"/>
          </a:xfrm>
          <a:prstGeom prst="ellipse">
            <a:avLst/>
          </a:prstGeom>
          <a:solidFill>
            <a:srgbClr val="E895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08483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4767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4-database benchmark, real numbers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46520" y="260604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SQLite, DuckDB, PostgreSQL, and SQL Server measured on the same 5.8M rows — not estimates. We found PostgreSQL takes 19.5s on COUNT DISTINCT.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1E252C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E895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37083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3367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storage paradigms, one pipeline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4400" y="489204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SQLite for complex analytical JOINs, plus a JSON key-value store for instant O(1) station lookups — the right tool for each access pattern.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9776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1E252C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251960"/>
            <a:ext cx="502920" cy="502920"/>
          </a:xfrm>
          <a:prstGeom prst="ellipse">
            <a:avLst/>
          </a:prstGeom>
          <a:solidFill>
            <a:srgbClr val="E895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37083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23367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Served two ways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46520" y="489204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human-readable Flask dashboard AND a machine-readable JSON API from the same warehouse — demonstrating a real serving layer, not just notebook output.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&amp; CONTRIBUTIONS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built what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A1F2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9280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83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github.com/[team]/delhi-air-quality-pipeline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4320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5212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Notebook / File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3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Contribution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7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Nelson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01_ingestion_partitioning.ipynb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PySpark setup, raw data load, ingestion summary, Hive partitioning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Rutvi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02_aggregation_schema.ipynb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Hourly aggregation, 3NF schema design, SQLite loading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AlaguVishaal Balaji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03_sql_analytics.ipynb,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benchmark_forecast.ipynb,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flask_app/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analytics, 4-DB benchmark, PM2.5 forecast, key-value store, Flask dashboard, documentation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member committed under their own GitHub account on separate branches, merged via pull requests — contribution history is individually verifiable.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9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8  ·  Nelson, Rutvi, AlaguVishaal Balaji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github.com/[team]/delhi-air-quality-pipeline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Delhi Air Quality Pipeline</dc:title>
  <dc:subject>PptxGenJS Presentation</dc:subject>
  <dc:creator>Team 8</dc:creator>
  <cp:lastModifiedBy>Team 8</cp:lastModifiedBy>
  <cp:revision>1</cp:revision>
  <dcterms:created xsi:type="dcterms:W3CDTF">2026-06-23T10:50:29Z</dcterms:created>
  <dcterms:modified xsi:type="dcterms:W3CDTF">2026-06-23T10:50:29Z</dcterms:modified>
</cp:coreProperties>
</file>